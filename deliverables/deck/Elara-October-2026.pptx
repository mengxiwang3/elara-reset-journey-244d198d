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image: the TestFlight Today screen (October 2026) with a sample member name, initial and a clean status bar. Background: Reed Island, current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Atlas: TestFlight screen, October 2026. Today: the same TestFlight screen with a sample member. Circles: current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A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nel-r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0"/>
            <a:ext cx="6099048" cy="6861429"/>
          </a:xfrm>
          <a:prstGeom prst="rect">
            <a:avLst/>
          </a:prstGeom>
        </p:spPr>
      </p:pic>
      <p:pic>
        <p:nvPicPr>
          <p:cNvPr id="3" name="Picture 2" descr="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29768"/>
            <a:ext cx="329184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43584" y="448056"/>
            <a:ext cx="731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4EEE2"/>
                </a:solidFill>
                <a:latin typeface="Instrument Sans SemiBold"/>
              </a:rPr>
              <a:t>elara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792224"/>
            <a:ext cx="47548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6000" b="0" i="0" spc="-50">
                <a:solidFill>
                  <a:srgbClr val="F4EEE2"/>
                </a:solidFill>
                <a:latin typeface="Fraunces SemiBold"/>
              </a:rPr>
              <a:t>Clarity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6000" b="0" i="0" spc="-50">
                <a:solidFill>
                  <a:srgbClr val="F4EEE2"/>
                </a:solidFill>
                <a:latin typeface="Fraunces SemiBold"/>
              </a:rPr>
              <a:t>about what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6000" b="0" i="0" spc="-50">
                <a:solidFill>
                  <a:srgbClr val="F4EEE2"/>
                </a:solidFill>
                <a:latin typeface="Fraunces SemiBold"/>
              </a:rPr>
              <a:t>to do next.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13816" y="4562856"/>
            <a:ext cx="3447288" cy="0"/>
          </a:xfrm>
          <a:prstGeom prst="line">
            <a:avLst/>
          </a:prstGeom>
          <a:ln w="22225">
            <a:solidFill>
              <a:srgbClr val="9EDFC0"/>
            </a:solidFill>
          </a:ln>
        </p:spPr>
      </p:cxnSp>
      <p:sp>
        <p:nvSpPr>
          <p:cNvPr id="7" name="Oval 6"/>
          <p:cNvSpPr/>
          <p:nvPr/>
        </p:nvSpPr>
        <p:spPr>
          <a:xfrm>
            <a:off x="4261104" y="4507992"/>
            <a:ext cx="109728" cy="109728"/>
          </a:xfrm>
          <a:prstGeom prst="ellipse">
            <a:avLst/>
          </a:prstGeom>
          <a:solidFill>
            <a:srgbClr val="9EDF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4855464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F4EEE2"/>
                </a:solidFill>
                <a:latin typeface="Instrument Sans"/>
              </a:rPr>
              <a:t>Spanish-first guidance for women.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F4EEE2"/>
                </a:solidFill>
                <a:latin typeface="Instrument Sans"/>
              </a:rPr>
              <a:t>One small step a day, with a path they can see.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596128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EDFC0"/>
                </a:solidFill>
                <a:latin typeface="Instrument Sans SemiBold"/>
              </a:rPr>
              <a:t>Initially for Spanish-speaking / Latina women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5852160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9C8BD"/>
                </a:solidFill>
                <a:latin typeface="Instrument Sans"/>
              </a:rPr>
              <a:t>October 2026 · In TestFlight · founding beta next</a:t>
            </a:r>
          </a:p>
        </p:txBody>
      </p:sp>
      <p:pic>
        <p:nvPicPr>
          <p:cNvPr id="11" name="Picture 10" descr="phone-tod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232" y="828080"/>
            <a:ext cx="2842686" cy="5704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" y="6309360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9C8BD"/>
                </a:solidFill>
                <a:latin typeface="Instrument Sans"/>
              </a:rPr>
              <a:t>Illustrative product image · Today, sample member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429768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3584" y="448056"/>
            <a:ext cx="731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C1A17"/>
                </a:solidFill>
                <a:latin typeface="Instrument Sans SemiBold"/>
              </a:rPr>
              <a:t>elara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11095" y="475488"/>
            <a:ext cx="0" cy="237744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2075688" y="50292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spc="160" cap="all">
                <a:solidFill>
                  <a:srgbClr val="7A6E62"/>
                </a:solidFill>
                <a:latin typeface="Instrument Sans SemiBold"/>
              </a:rPr>
              <a:t>The problem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537192" y="594360"/>
            <a:ext cx="126187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9537192" y="594360"/>
            <a:ext cx="97067" cy="0"/>
          </a:xfrm>
          <a:prstGeom prst="line">
            <a:avLst/>
          </a:prstGeom>
          <a:ln w="15875">
            <a:solidFill>
              <a:srgbClr val="8FA58C"/>
            </a:solidFill>
          </a:ln>
        </p:spPr>
      </p:cxnSp>
      <p:sp>
        <p:nvSpPr>
          <p:cNvPr id="8" name="Oval 7"/>
          <p:cNvSpPr/>
          <p:nvPr/>
        </p:nvSpPr>
        <p:spPr>
          <a:xfrm>
            <a:off x="9593111" y="553212"/>
            <a:ext cx="82296" cy="82296"/>
          </a:xfrm>
          <a:prstGeom prst="ellipse">
            <a:avLst/>
          </a:prstGeom>
          <a:solidFill>
            <a:srgbClr val="8FA5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48463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5F564D"/>
                </a:solidFill>
                <a:latin typeface="Instrument Sa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1170432"/>
            <a:ext cx="5852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5000" b="0" i="0" spc="-50">
                <a:solidFill>
                  <a:srgbClr val="1C1A17"/>
                </a:solidFill>
                <a:latin typeface="Fraunces SemiBold"/>
              </a:rPr>
              <a:t>She arrives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5000" b="0" i="0" spc="-50">
                <a:solidFill>
                  <a:srgbClr val="1C1A17"/>
                </a:solidFill>
                <a:latin typeface="Fraunces SemiBold"/>
              </a:rPr>
              <a:t>needing stability.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1464" y="1901952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0" i="0">
                <a:solidFill>
                  <a:srgbClr val="1F4535"/>
                </a:solidFill>
                <a:latin typeface="Instrument Sans Medium"/>
              </a:rPr>
              <a:t>She doesn't lack information.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0" i="0">
                <a:solidFill>
                  <a:srgbClr val="1F4535"/>
                </a:solidFill>
                <a:latin typeface="Instrument Sans Medium"/>
              </a:rPr>
              <a:t>She needs to know what to do next.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3816" y="3364992"/>
            <a:ext cx="4974336" cy="0"/>
          </a:xfrm>
          <a:prstGeom prst="line">
            <a:avLst/>
          </a:prstGeom>
          <a:ln w="15875">
            <a:solidFill>
              <a:srgbClr val="8B5A44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409944" y="3364992"/>
            <a:ext cx="4974336" cy="0"/>
          </a:xfrm>
          <a:prstGeom prst="line">
            <a:avLst/>
          </a:prstGeom>
          <a:ln w="15875">
            <a:solidFill>
              <a:srgbClr val="1F4535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13816" y="3611880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spc="140" cap="all">
                <a:solidFill>
                  <a:srgbClr val="8B5A44"/>
                </a:solidFill>
                <a:latin typeface="Instrument Sans SemiBold"/>
              </a:rPr>
              <a:t>Life at a crossroads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3611880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spc="140" cap="all">
                <a:solidFill>
                  <a:srgbClr val="1F4535"/>
                </a:solidFill>
                <a:latin typeface="Instrument Sans SemiBold"/>
              </a:rPr>
              <a:t>Family responsibility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3931920"/>
            <a:ext cx="4937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1C1A17"/>
                </a:solidFill>
                <a:latin typeface="Fraunces SemiBold"/>
              </a:rPr>
              <a:t>“Estoy pasando por una encrucijada de vida, no tengo motivación, ni dirección, no se que hacer y me siento abrumada.”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3931920"/>
            <a:ext cx="4983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1C1A17"/>
                </a:solidFill>
                <a:latin typeface="Fraunces SemiBold"/>
              </a:rPr>
              <a:t>“Aceptando la enfermedad de mi mamá, sentirme sola pensando que todo me tocaba a mí y miedo al futuro”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6272784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564D"/>
                </a:solidFill>
                <a:latin typeface="Instrument Sans"/>
              </a:rPr>
              <a:t>Open responses from Elara's target community, May 2026. Original Spanish.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429768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3584" y="448056"/>
            <a:ext cx="731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C1A17"/>
                </a:solidFill>
                <a:latin typeface="Instrument Sans SemiBold"/>
              </a:rPr>
              <a:t>elara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11095" y="475488"/>
            <a:ext cx="0" cy="237744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2075688" y="50292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spc="160" cap="all">
                <a:solidFill>
                  <a:srgbClr val="7A6E62"/>
                </a:solidFill>
                <a:latin typeface="Instrument Sans SemiBold"/>
              </a:rPr>
              <a:t>Demand signal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537192" y="594360"/>
            <a:ext cx="126187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9537192" y="594360"/>
            <a:ext cx="194134" cy="0"/>
          </a:xfrm>
          <a:prstGeom prst="line">
            <a:avLst/>
          </a:prstGeom>
          <a:ln w="15875">
            <a:solidFill>
              <a:srgbClr val="8FA58C"/>
            </a:solidFill>
          </a:ln>
        </p:spPr>
      </p:cxnSp>
      <p:sp>
        <p:nvSpPr>
          <p:cNvPr id="8" name="Oval 7"/>
          <p:cNvSpPr/>
          <p:nvPr/>
        </p:nvSpPr>
        <p:spPr>
          <a:xfrm>
            <a:off x="9690178" y="553212"/>
            <a:ext cx="82296" cy="82296"/>
          </a:xfrm>
          <a:prstGeom prst="ellipse">
            <a:avLst/>
          </a:prstGeom>
          <a:solidFill>
            <a:srgbClr val="8FA5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48463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5F564D"/>
                </a:solidFill>
                <a:latin typeface="Instrument San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024128"/>
            <a:ext cx="4754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0" b="0" i="0" spc="-300">
                <a:solidFill>
                  <a:srgbClr val="133A2B"/>
                </a:solidFill>
                <a:latin typeface="Fraunces SemiBold"/>
              </a:rPr>
              <a:t>4,610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743200"/>
            <a:ext cx="4297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800" b="0" i="0" spc="-50">
                <a:solidFill>
                  <a:srgbClr val="1C1A17"/>
                </a:solidFill>
                <a:latin typeface="Fraunces SemiBold"/>
              </a:rPr>
              <a:t>women told us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800" b="0" i="0" spc="-50">
                <a:solidFill>
                  <a:srgbClr val="1C1A17"/>
                </a:solidFill>
                <a:latin typeface="Fraunces SemiBold"/>
              </a:rPr>
              <a:t>what's weighing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800" b="0" i="0" spc="-50">
                <a:solidFill>
                  <a:srgbClr val="1C1A17"/>
                </a:solidFill>
                <a:latin typeface="Fraunces SemiBold"/>
              </a:rPr>
              <a:t>on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1344168"/>
            <a:ext cx="3931920" cy="576072"/>
          </a:xfrm>
          <a:prstGeom prst="rect">
            <a:avLst/>
          </a:prstGeom>
          <a:solidFill>
            <a:srgbClr val="E35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508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Instrument Sans SemiBold"/>
              </a:rPr>
              <a:t>Money &amp; financial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1426464"/>
            <a:ext cx="10058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 i="0">
                <a:solidFill>
                  <a:srgbClr val="B8461F"/>
                </a:solidFill>
                <a:latin typeface="Fraunces SemiBold"/>
              </a:rPr>
              <a:t>55%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53328" y="2066543"/>
            <a:ext cx="2859578" cy="576072"/>
          </a:xfrm>
          <a:prstGeom prst="rect">
            <a:avLst/>
          </a:prstGeom>
          <a:solidFill>
            <a:srgbClr val="133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2231136"/>
            <a:ext cx="25852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Instrument Sans SemiBold"/>
              </a:rPr>
              <a:t>Mental 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7498" y="2148840"/>
            <a:ext cx="10058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 i="0">
                <a:solidFill>
                  <a:srgbClr val="1C1A17"/>
                </a:solidFill>
                <a:latin typeface="Fraunces SemiBold"/>
              </a:rPr>
              <a:t>40%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3328" y="2788920"/>
            <a:ext cx="2788088" cy="576072"/>
          </a:xfrm>
          <a:prstGeom prst="rect">
            <a:avLst/>
          </a:prstGeom>
          <a:solidFill>
            <a:srgbClr val="133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2953512"/>
            <a:ext cx="2513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Instrument Sans SemiBold"/>
              </a:rPr>
              <a:t>Habits &amp; discipline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008" y="2871216"/>
            <a:ext cx="10058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 i="0">
                <a:solidFill>
                  <a:srgbClr val="1C1A17"/>
                </a:solidFill>
                <a:latin typeface="Fraunces SemiBold"/>
              </a:rPr>
              <a:t>39%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53328" y="3511296"/>
            <a:ext cx="2788088" cy="576072"/>
          </a:xfrm>
          <a:prstGeom prst="rect">
            <a:avLst/>
          </a:prstGeom>
          <a:solidFill>
            <a:srgbClr val="133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3675887"/>
            <a:ext cx="2513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Instrument Sans SemiBold"/>
              </a:rPr>
              <a:t>Life direction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008" y="3593592"/>
            <a:ext cx="10058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 i="0">
                <a:solidFill>
                  <a:srgbClr val="1C1A17"/>
                </a:solidFill>
                <a:latin typeface="Fraunces SemiBold"/>
              </a:rPr>
              <a:t>39%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4233672"/>
            <a:ext cx="2502130" cy="576072"/>
          </a:xfrm>
          <a:prstGeom prst="rect">
            <a:avLst/>
          </a:prstGeom>
          <a:solidFill>
            <a:srgbClr val="133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4398264"/>
            <a:ext cx="22278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Instrument Sans SemiBold"/>
              </a:rPr>
              <a:t>Anxiety &amp; stress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0050" y="4315968"/>
            <a:ext cx="10058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 i="0">
                <a:solidFill>
                  <a:srgbClr val="1C1A17"/>
                </a:solidFill>
                <a:latin typeface="Fraunces SemiBold"/>
              </a:rPr>
              <a:t>35%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55412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50" b="0" i="0">
                <a:solidFill>
                  <a:srgbClr val="1C1A17"/>
                </a:solidFill>
                <a:latin typeface="Instrument Sans"/>
              </a:rPr>
              <a:t>Money is the entry point. </a:t>
            </a:r>
            <a:r>
              <a:rPr sz="1750" b="0" i="0">
                <a:solidFill>
                  <a:srgbClr val="B8461F"/>
                </a:solidFill>
                <a:latin typeface="Instrument Sans SemiBold"/>
              </a:rPr>
              <a:t>The need is broader.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" y="6272784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564D"/>
                </a:solidFill>
                <a:latin typeface="Instrument Sans"/>
              </a:rPr>
              <a:t>May 2026 open survey, n = 4,610; up to 3 challenges each. Share of respondents. Target-community research, not a representative study.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nel-me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0"/>
            <a:ext cx="6099048" cy="6861429"/>
          </a:xfrm>
          <a:prstGeom prst="rect">
            <a:avLst/>
          </a:prstGeom>
        </p:spPr>
      </p:pic>
      <p:pic>
        <p:nvPicPr>
          <p:cNvPr id="3" name="Picture 2" descr="logo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29768"/>
            <a:ext cx="329184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43584" y="448056"/>
            <a:ext cx="731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C1A17"/>
                </a:solidFill>
                <a:latin typeface="Instrument Sans SemiBold"/>
              </a:rPr>
              <a:t>elara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11095" y="475488"/>
            <a:ext cx="0" cy="237744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2075688" y="50292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spc="160" cap="all">
                <a:solidFill>
                  <a:srgbClr val="7A6E62"/>
                </a:solidFill>
                <a:latin typeface="Instrument Sans SemiBold"/>
              </a:rPr>
              <a:t>The insight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537192" y="594360"/>
            <a:ext cx="126187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9537192" y="594360"/>
            <a:ext cx="291201" cy="0"/>
          </a:xfrm>
          <a:prstGeom prst="line">
            <a:avLst/>
          </a:prstGeom>
          <a:ln w="15875">
            <a:solidFill>
              <a:srgbClr val="8FA58C"/>
            </a:solidFill>
          </a:ln>
        </p:spPr>
      </p:cxnSp>
      <p:sp>
        <p:nvSpPr>
          <p:cNvPr id="9" name="Oval 8"/>
          <p:cNvSpPr/>
          <p:nvPr/>
        </p:nvSpPr>
        <p:spPr>
          <a:xfrm>
            <a:off x="9787245" y="553212"/>
            <a:ext cx="82296" cy="82296"/>
          </a:xfrm>
          <a:prstGeom prst="ellipse">
            <a:avLst/>
          </a:prstGeom>
          <a:solidFill>
            <a:srgbClr val="8FA5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48463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5F564D"/>
                </a:solidFill>
                <a:latin typeface="Instrument San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1152144"/>
            <a:ext cx="4937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500" b="0" i="0" spc="-50">
                <a:solidFill>
                  <a:srgbClr val="1C1A17"/>
                </a:solidFill>
                <a:latin typeface="Fraunces SemiBold"/>
              </a:rPr>
              <a:t>She doesn't need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500" b="0" i="0" spc="-50">
                <a:solidFill>
                  <a:srgbClr val="1C1A17"/>
                </a:solidFill>
                <a:latin typeface="Fraunces SemiBold"/>
              </a:rPr>
              <a:t>more content.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500" b="0" i="0" spc="-50">
                <a:solidFill>
                  <a:srgbClr val="1C1A17"/>
                </a:solidFill>
                <a:latin typeface="Fraunces SemiBold"/>
              </a:rPr>
              <a:t>She needs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500" b="0" i="0" spc="-50">
                <a:solidFill>
                  <a:srgbClr val="1C1A17"/>
                </a:solidFill>
                <a:latin typeface="Fraunces SemiBold"/>
              </a:rPr>
              <a:t>somewhere to go.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5266944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5F564D"/>
                </a:solidFill>
                <a:latin typeface="Instrument Sans"/>
              </a:rPr>
              <a:t>Elara gives her one small step a day, and each step moves her somewhere she can see.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" y="6208776"/>
            <a:ext cx="2365597" cy="310896"/>
          </a:xfrm>
          <a:prstGeom prst="roundRect">
            <a:avLst>
              <a:gd name="adj" fmla="val 50000"/>
            </a:avLst>
          </a:prstGeom>
          <a:solidFill>
            <a:srgbClr val="EAE3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6281928"/>
            <a:ext cx="218271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32D"/>
                </a:solidFill>
                <a:latin typeface="Instrument Sans Medium"/>
              </a:rPr>
              <a:t>Mist Meadow · current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A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429768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3584" y="448056"/>
            <a:ext cx="731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4EEE2"/>
                </a:solidFill>
                <a:latin typeface="Instrument Sans SemiBold"/>
              </a:rPr>
              <a:t>elara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11095" y="475488"/>
            <a:ext cx="0" cy="237744"/>
          </a:xfrm>
          <a:prstGeom prst="line">
            <a:avLst/>
          </a:prstGeom>
          <a:ln w="9525">
            <a:solidFill>
              <a:srgbClr val="4C6B5D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2075688" y="50292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spc="160" cap="all">
                <a:solidFill>
                  <a:srgbClr val="B9C8BD"/>
                </a:solidFill>
                <a:latin typeface="Instrument Sans SemiBold"/>
              </a:rPr>
              <a:t>How Elara works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537192" y="594360"/>
            <a:ext cx="1261872" cy="0"/>
          </a:xfrm>
          <a:prstGeom prst="line">
            <a:avLst/>
          </a:prstGeom>
          <a:ln w="9525">
            <a:solidFill>
              <a:srgbClr val="4C6B5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9537192" y="594360"/>
            <a:ext cx="388268" cy="0"/>
          </a:xfrm>
          <a:prstGeom prst="line">
            <a:avLst/>
          </a:prstGeom>
          <a:ln w="15875">
            <a:solidFill>
              <a:srgbClr val="9EDFC0"/>
            </a:solidFill>
          </a:ln>
        </p:spPr>
      </p:cxnSp>
      <p:sp>
        <p:nvSpPr>
          <p:cNvPr id="8" name="Oval 7"/>
          <p:cNvSpPr/>
          <p:nvPr/>
        </p:nvSpPr>
        <p:spPr>
          <a:xfrm>
            <a:off x="9884312" y="553212"/>
            <a:ext cx="82296" cy="82296"/>
          </a:xfrm>
          <a:prstGeom prst="ellipse">
            <a:avLst/>
          </a:prstGeom>
          <a:solidFill>
            <a:srgbClr val="9EDF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48463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B9C8BD"/>
                </a:solidFill>
                <a:latin typeface="Instrument San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1152144"/>
            <a:ext cx="3657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100" b="0" i="0" spc="-50">
                <a:solidFill>
                  <a:srgbClr val="F4EEE2"/>
                </a:solidFill>
                <a:latin typeface="Fraunces SemiBold"/>
              </a:rPr>
              <a:t>A daily path,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100" b="0" i="0" spc="-50">
                <a:solidFill>
                  <a:srgbClr val="F4EEE2"/>
                </a:solidFill>
                <a:latin typeface="Fraunces SemiBold"/>
              </a:rPr>
              <a:t>with company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100" b="0" i="0" spc="-50">
                <a:solidFill>
                  <a:srgbClr val="F4EEE2"/>
                </a:solidFill>
                <a:latin typeface="Fraunces SemiBold"/>
              </a:rPr>
              <a:t>along the way.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4023360"/>
            <a:ext cx="3383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F4EEE2"/>
                </a:solidFill>
                <a:latin typeface="Instrument Sans"/>
              </a:rPr>
              <a:t>Today gives her a next step. Atlas keeps the journey visible. Ask Elara and Circles help her work through it.</a:t>
            </a:r>
          </a:p>
        </p:txBody>
      </p:sp>
      <p:pic>
        <p:nvPicPr>
          <p:cNvPr id="12" name="Picture 11" descr="phone-to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217" y="1137513"/>
            <a:ext cx="2068372" cy="41506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26864" y="52303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F4EEE2"/>
                </a:solidFill>
                <a:latin typeface="Fraunces SemiBold"/>
              </a:rPr>
              <a:t>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5559552"/>
            <a:ext cx="20116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B9C8BD"/>
                </a:solidFill>
                <a:latin typeface="Instrument Sans"/>
              </a:rPr>
              <a:t>Where she is now</a:t>
            </a:r>
          </a:p>
        </p:txBody>
      </p:sp>
      <p:pic>
        <p:nvPicPr>
          <p:cNvPr id="15" name="Picture 14" descr="phone-atl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217" y="1137513"/>
            <a:ext cx="2068372" cy="41506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12864" y="52303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F4EEE2"/>
                </a:solidFill>
                <a:latin typeface="Fraunces SemiBold"/>
              </a:rPr>
              <a:t>Atlas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5559552"/>
            <a:ext cx="20116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B9C8BD"/>
                </a:solidFill>
                <a:latin typeface="Instrument Sans"/>
              </a:rPr>
              <a:t>Where she has been</a:t>
            </a:r>
          </a:p>
        </p:txBody>
      </p:sp>
      <p:pic>
        <p:nvPicPr>
          <p:cNvPr id="18" name="Picture 17" descr="phone-circ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6217" y="1137513"/>
            <a:ext cx="2068372" cy="4162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98864" y="52303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F4EEE2"/>
                </a:solidFill>
                <a:latin typeface="Fraunces SemiBold"/>
              </a:rPr>
              <a:t>Circles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5559552"/>
            <a:ext cx="20116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B9C8BD"/>
                </a:solidFill>
                <a:latin typeface="Instrument Sans"/>
              </a:rPr>
              <a:t>Women on the same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" y="6208776"/>
            <a:ext cx="5201586" cy="310896"/>
          </a:xfrm>
          <a:prstGeom prst="roundRect">
            <a:avLst>
              <a:gd name="adj" fmla="val 50000"/>
            </a:avLst>
          </a:prstGeom>
          <a:solidFill>
            <a:srgbClr val="264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6281928"/>
            <a:ext cx="501870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EEE2"/>
                </a:solidFill>
                <a:latin typeface="Instrument Sans Medium"/>
              </a:rPr>
              <a:t>Today and Atlas: in TestFlight · Circles: current design, in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429768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3584" y="448056"/>
            <a:ext cx="731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C1A17"/>
                </a:solidFill>
                <a:latin typeface="Instrument Sans SemiBold"/>
              </a:rPr>
              <a:t>elara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11095" y="475488"/>
            <a:ext cx="0" cy="237744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2075688" y="50292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spc="160" cap="all">
                <a:solidFill>
                  <a:srgbClr val="7A6E62"/>
                </a:solidFill>
                <a:latin typeface="Instrument Sans SemiBold"/>
              </a:rPr>
              <a:t>Paths + Atlas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537192" y="594360"/>
            <a:ext cx="126187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9537192" y="594360"/>
            <a:ext cx="485335" cy="0"/>
          </a:xfrm>
          <a:prstGeom prst="line">
            <a:avLst/>
          </a:prstGeom>
          <a:ln w="15875">
            <a:solidFill>
              <a:srgbClr val="8FA58C"/>
            </a:solidFill>
          </a:ln>
        </p:spPr>
      </p:cxnSp>
      <p:sp>
        <p:nvSpPr>
          <p:cNvPr id="8" name="Oval 7"/>
          <p:cNvSpPr/>
          <p:nvPr/>
        </p:nvSpPr>
        <p:spPr>
          <a:xfrm>
            <a:off x="9981379" y="553212"/>
            <a:ext cx="82296" cy="82296"/>
          </a:xfrm>
          <a:prstGeom prst="ellipse">
            <a:avLst/>
          </a:prstGeom>
          <a:solidFill>
            <a:srgbClr val="8FA5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48463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5F564D"/>
                </a:solidFill>
                <a:latin typeface="Instrument San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1152144"/>
            <a:ext cx="6949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600" b="0" i="0" spc="-50">
                <a:solidFill>
                  <a:srgbClr val="1C1A17"/>
                </a:solidFill>
                <a:latin typeface="Fraunces SemiBold"/>
              </a:rPr>
              <a:t>One path.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600" b="0" i="0" spc="-50">
                <a:solidFill>
                  <a:srgbClr val="1C1A17"/>
                </a:solidFill>
                <a:latin typeface="Fraunces SemiBold"/>
              </a:rPr>
              <a:t>Five distinct worlds.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542032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5F564D"/>
                </a:solidFill>
                <a:latin typeface="Instrument Sans"/>
              </a:rPr>
              <a:t>Money Clarity is designed as a five-week journey. Each week has a world; each day moves her through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3639312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spc="140" cap="all">
                <a:solidFill>
                  <a:srgbClr val="1F4535"/>
                </a:solidFill>
                <a:latin typeface="Instrument Sans SemiBold"/>
              </a:rPr>
              <a:t>Five worlds of Money Clarity</a:t>
            </a:r>
          </a:p>
        </p:txBody>
      </p:sp>
      <p:pic>
        <p:nvPicPr>
          <p:cNvPr id="13" name="Picture 12" descr="cardf-mist-mea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" y="3844137"/>
            <a:ext cx="1803196" cy="21140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3816" y="594360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1C1A17"/>
                </a:solidFill>
                <a:latin typeface="Instrument Sans SemiBold"/>
              </a:rPr>
              <a:t>Mist Meadow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614476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564D"/>
                </a:solidFill>
                <a:latin typeface="Instrument Sans"/>
              </a:rPr>
              <a:t>Week 1</a:t>
            </a:r>
          </a:p>
        </p:txBody>
      </p:sp>
      <p:pic>
        <p:nvPicPr>
          <p:cNvPr id="16" name="Picture 15" descr="cardf-celestial-n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441" y="3844137"/>
            <a:ext cx="1803196" cy="21140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71800" y="594360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1C1A17"/>
                </a:solidFill>
                <a:latin typeface="Instrument Sans SemiBold"/>
              </a:rPr>
              <a:t>Celestial Night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614476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564D"/>
                </a:solidFill>
                <a:latin typeface="Instrument Sans"/>
              </a:rPr>
              <a:t>Week 2</a:t>
            </a:r>
          </a:p>
        </p:txBody>
      </p:sp>
      <p:pic>
        <p:nvPicPr>
          <p:cNvPr id="19" name="Picture 18" descr="cardf-reed-isl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5425" y="3844137"/>
            <a:ext cx="1803196" cy="21140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29784" y="594360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1C1A17"/>
                </a:solidFill>
                <a:latin typeface="Instrument Sans SemiBold"/>
              </a:rPr>
              <a:t>Reed Island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4" y="614476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564D"/>
                </a:solidFill>
                <a:latin typeface="Instrument Sans"/>
              </a:rPr>
              <a:t>Week 3</a:t>
            </a:r>
          </a:p>
        </p:txBody>
      </p:sp>
      <p:pic>
        <p:nvPicPr>
          <p:cNvPr id="22" name="Picture 21" descr="cardf-guadua-roo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3409" y="3844137"/>
            <a:ext cx="1803196" cy="21140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87768" y="594360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1C1A17"/>
                </a:solidFill>
                <a:latin typeface="Instrument Sans SemiBold"/>
              </a:rPr>
              <a:t>Guadua Roots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7768" y="614476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564D"/>
                </a:solidFill>
                <a:latin typeface="Instrument Sans"/>
              </a:rPr>
              <a:t>Week 4</a:t>
            </a:r>
          </a:p>
        </p:txBody>
      </p:sp>
      <p:pic>
        <p:nvPicPr>
          <p:cNvPr id="25" name="Picture 24" descr="cardf-the-overlo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1393" y="3844137"/>
            <a:ext cx="1803196" cy="211409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445752" y="594360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1C1A17"/>
                </a:solidFill>
                <a:latin typeface="Instrument Sans SemiBold"/>
              </a:rPr>
              <a:t>The Overlook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614476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564D"/>
                </a:solidFill>
                <a:latin typeface="Instrument Sans"/>
              </a:rPr>
              <a:t>Week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743200"/>
            <a:ext cx="4443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F564D"/>
                </a:solidFill>
                <a:latin typeface="Instrument Sans"/>
              </a:rPr>
              <a:t>World artwork is the current design. Week 3, Reed Island, is visible in TestFlight.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429768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3584" y="448056"/>
            <a:ext cx="731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C1A17"/>
                </a:solidFill>
                <a:latin typeface="Instrument Sans SemiBold"/>
              </a:rPr>
              <a:t>elara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11095" y="475488"/>
            <a:ext cx="0" cy="237744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2075688" y="50292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spc="160" cap="all">
                <a:solidFill>
                  <a:srgbClr val="7A6E62"/>
                </a:solidFill>
                <a:latin typeface="Instrument Sans SemiBold"/>
              </a:rPr>
              <a:t>Today + Ask Elara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537192" y="594360"/>
            <a:ext cx="126187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9537192" y="594360"/>
            <a:ext cx="582402" cy="0"/>
          </a:xfrm>
          <a:prstGeom prst="line">
            <a:avLst/>
          </a:prstGeom>
          <a:ln w="15875">
            <a:solidFill>
              <a:srgbClr val="8FA58C"/>
            </a:solidFill>
          </a:ln>
        </p:spPr>
      </p:cxnSp>
      <p:sp>
        <p:nvSpPr>
          <p:cNvPr id="8" name="Oval 7"/>
          <p:cNvSpPr/>
          <p:nvPr/>
        </p:nvSpPr>
        <p:spPr>
          <a:xfrm>
            <a:off x="10078446" y="553212"/>
            <a:ext cx="82296" cy="82296"/>
          </a:xfrm>
          <a:prstGeom prst="ellipse">
            <a:avLst/>
          </a:prstGeom>
          <a:solidFill>
            <a:srgbClr val="8FA5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48463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5F564D"/>
                </a:solidFill>
                <a:latin typeface="Instrument Sans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1152144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300" b="0" i="0" spc="-50">
                <a:solidFill>
                  <a:srgbClr val="1C1A17"/>
                </a:solidFill>
                <a:latin typeface="Fraunces SemiBold"/>
              </a:rPr>
              <a:t>She can pick up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300" b="0" i="0" spc="-50">
                <a:solidFill>
                  <a:srgbClr val="1C1A17"/>
                </a:solidFill>
                <a:latin typeface="Fraunces SemiBold"/>
              </a:rPr>
              <a:t>where she left off.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743200"/>
            <a:ext cx="4297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700" b="0" i="0">
                <a:solidFill>
                  <a:srgbClr val="5F564D"/>
                </a:solidFill>
                <a:latin typeface="Instrument Sans"/>
              </a:rPr>
              <a:t>Today keeps her place on the path and puts the next practice within reach.</a:t>
            </a:r>
          </a:p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700" b="0" i="0">
                <a:solidFill>
                  <a:srgbClr val="5F564D"/>
                </a:solidFill>
                <a:latin typeface="Instrument Sans"/>
              </a:rPr>
              <a:t>Ask Elara can help her talk through the question with context from her ongoing journey.</a:t>
            </a:r>
          </a:p>
        </p:txBody>
      </p:sp>
      <p:pic>
        <p:nvPicPr>
          <p:cNvPr id="12" name="Picture 11" descr="phone-to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307" y="757123"/>
            <a:ext cx="2810865" cy="5640577"/>
          </a:xfrm>
          <a:prstGeom prst="rect">
            <a:avLst/>
          </a:prstGeom>
        </p:spPr>
      </p:pic>
      <p:pic>
        <p:nvPicPr>
          <p:cNvPr id="13" name="Picture 12" descr="phone-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550" y="1203350"/>
            <a:ext cx="2439619" cy="494700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13816" y="6208776"/>
            <a:ext cx="5642365" cy="310896"/>
          </a:xfrm>
          <a:prstGeom prst="roundRect">
            <a:avLst>
              <a:gd name="adj" fmla="val 50000"/>
            </a:avLst>
          </a:prstGeom>
          <a:solidFill>
            <a:srgbClr val="EAE3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6281928"/>
            <a:ext cx="545948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32D"/>
                </a:solidFill>
                <a:latin typeface="Instrument Sans Medium"/>
              </a:rPr>
              <a:t>Today and the Ask Elara tab: in TestFlight · Ask Elara shown in current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544982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564D"/>
                </a:solidFill>
                <a:latin typeface="Instrument Sans"/>
              </a:rPr>
              <a:t>Today image: TestFlight screen, sample member. How Ask Elara uses her context is product intent, not a measured outcome.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429768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3584" y="448056"/>
            <a:ext cx="731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C1A17"/>
                </a:solidFill>
                <a:latin typeface="Instrument Sans SemiBold"/>
              </a:rPr>
              <a:t>elara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11095" y="475488"/>
            <a:ext cx="0" cy="237744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2075688" y="50292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spc="160" cap="all">
                <a:solidFill>
                  <a:srgbClr val="7A6E62"/>
                </a:solidFill>
                <a:latin typeface="Instrument Sans SemiBold"/>
              </a:rPr>
              <a:t>Circles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537192" y="594360"/>
            <a:ext cx="126187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9537192" y="594360"/>
            <a:ext cx="679469" cy="0"/>
          </a:xfrm>
          <a:prstGeom prst="line">
            <a:avLst/>
          </a:prstGeom>
          <a:ln w="15875">
            <a:solidFill>
              <a:srgbClr val="8FA58C"/>
            </a:solidFill>
          </a:ln>
        </p:spPr>
      </p:cxnSp>
      <p:sp>
        <p:nvSpPr>
          <p:cNvPr id="8" name="Oval 7"/>
          <p:cNvSpPr/>
          <p:nvPr/>
        </p:nvSpPr>
        <p:spPr>
          <a:xfrm>
            <a:off x="10175513" y="553212"/>
            <a:ext cx="82296" cy="82296"/>
          </a:xfrm>
          <a:prstGeom prst="ellipse">
            <a:avLst/>
          </a:prstGeom>
          <a:solidFill>
            <a:srgbClr val="8FA5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48463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5F564D"/>
                </a:solidFill>
                <a:latin typeface="Instrument Sans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1152144"/>
            <a:ext cx="5120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000" b="0" i="0" spc="-50">
                <a:solidFill>
                  <a:srgbClr val="1C1A17"/>
                </a:solidFill>
                <a:latin typeface="Fraunces SemiBold"/>
              </a:rPr>
              <a:t>Small private rooms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000" b="0" i="0" spc="-50">
                <a:solidFill>
                  <a:srgbClr val="1C1A17"/>
                </a:solidFill>
                <a:latin typeface="Fraunces SemiBold"/>
              </a:rPr>
              <a:t>built around a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000" b="0" i="0" spc="-50">
                <a:solidFill>
                  <a:srgbClr val="1C1A17"/>
                </a:solidFill>
                <a:latin typeface="Fraunces SemiBold"/>
              </a:rPr>
              <a:t>shared question.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3931920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700" b="0" i="0">
                <a:solidFill>
                  <a:srgbClr val="5F564D"/>
                </a:solidFill>
                <a:latin typeface="Instrument Sans"/>
              </a:rPr>
              <a:t>Up to ten women. Their words stay with the room, and a weekly question gives them a reason to return.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700" b="0" i="0">
                <a:solidFill>
                  <a:srgbClr val="5F564D"/>
                </a:solidFill>
                <a:latin typeface="Instrument Sans"/>
              </a:rPr>
              <a:t>No likes, no counts, no public feed.</a:t>
            </a:r>
          </a:p>
        </p:txBody>
      </p:sp>
      <p:pic>
        <p:nvPicPr>
          <p:cNvPr id="12" name="Picture 11" descr="phone-circ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227" y="683971"/>
            <a:ext cx="2810865" cy="565673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13816" y="6208776"/>
            <a:ext cx="5621311" cy="310896"/>
          </a:xfrm>
          <a:prstGeom prst="roundRect">
            <a:avLst>
              <a:gd name="adj" fmla="val 50000"/>
            </a:avLst>
          </a:prstGeom>
          <a:solidFill>
            <a:srgbClr val="EAE3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6281928"/>
            <a:ext cx="54384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32D"/>
                </a:solidFill>
                <a:latin typeface="Instrument Sans Medium"/>
              </a:rPr>
              <a:t>Current design, in development · room formation and scale still being tested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429768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3584" y="448056"/>
            <a:ext cx="731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C1A17"/>
                </a:solidFill>
                <a:latin typeface="Instrument Sans SemiBold"/>
              </a:rPr>
              <a:t>elara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11095" y="475488"/>
            <a:ext cx="0" cy="237744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2075688" y="50292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spc="160" cap="all">
                <a:solidFill>
                  <a:srgbClr val="7A6E62"/>
                </a:solidFill>
                <a:latin typeface="Instrument Sans SemiBold"/>
              </a:rPr>
              <a:t>Explore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537192" y="594360"/>
            <a:ext cx="126187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9537192" y="594360"/>
            <a:ext cx="776536" cy="0"/>
          </a:xfrm>
          <a:prstGeom prst="line">
            <a:avLst/>
          </a:prstGeom>
          <a:ln w="15875">
            <a:solidFill>
              <a:srgbClr val="8FA58C"/>
            </a:solidFill>
          </a:ln>
        </p:spPr>
      </p:cxnSp>
      <p:sp>
        <p:nvSpPr>
          <p:cNvPr id="8" name="Oval 7"/>
          <p:cNvSpPr/>
          <p:nvPr/>
        </p:nvSpPr>
        <p:spPr>
          <a:xfrm>
            <a:off x="10272580" y="553212"/>
            <a:ext cx="82296" cy="82296"/>
          </a:xfrm>
          <a:prstGeom prst="ellipse">
            <a:avLst/>
          </a:prstGeom>
          <a:solidFill>
            <a:srgbClr val="8FA5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48463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5F564D"/>
                </a:solidFill>
                <a:latin typeface="Instrument Sans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1152144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200" b="0" i="0" spc="-50">
                <a:solidFill>
                  <a:srgbClr val="1C1A17"/>
                </a:solidFill>
                <a:latin typeface="Fraunces SemiBold"/>
              </a:rPr>
              <a:t>Trusted voices,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200" b="0" i="0" spc="-50">
                <a:solidFill>
                  <a:srgbClr val="1C1A17"/>
                </a:solidFill>
                <a:latin typeface="Fraunces SemiBold"/>
              </a:rPr>
              <a:t>in her daily routine.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74320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700" b="0" i="0">
                <a:solidFill>
                  <a:srgbClr val="5F564D"/>
                </a:solidFill>
                <a:latin typeface="Instrument Sans"/>
              </a:rPr>
              <a:t>Explore brings short guidance and live workshops alongside her path.</a:t>
            </a:r>
          </a:p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700" b="0" i="0">
                <a:solidFill>
                  <a:srgbClr val="5F564D"/>
                </a:solidFill>
                <a:latin typeface="Instrument Sans"/>
              </a:rPr>
              <a:t>Next: browsing workshops day by day, with the next date shown when a day is empty.</a:t>
            </a:r>
          </a:p>
        </p:txBody>
      </p:sp>
      <p:pic>
        <p:nvPicPr>
          <p:cNvPr id="12" name="Picture 11" descr="phone-expl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227" y="683971"/>
            <a:ext cx="2810865" cy="564057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13816" y="6208776"/>
            <a:ext cx="6535453" cy="310896"/>
          </a:xfrm>
          <a:prstGeom prst="roundRect">
            <a:avLst>
              <a:gd name="adj" fmla="val 50000"/>
            </a:avLst>
          </a:prstGeom>
          <a:solidFill>
            <a:srgbClr val="EAE3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6281928"/>
            <a:ext cx="635257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32D"/>
                </a:solidFill>
                <a:latin typeface="Instrument Sans Medium"/>
              </a:rPr>
              <a:t>Explore: in TestFlight · day-by-day browsing in development · hosts and events illustrative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429768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3584" y="448056"/>
            <a:ext cx="731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C1A17"/>
                </a:solidFill>
                <a:latin typeface="Instrument Sans SemiBold"/>
              </a:rPr>
              <a:t>elara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11095" y="475488"/>
            <a:ext cx="0" cy="237744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2075688" y="50292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spc="160" cap="all">
                <a:solidFill>
                  <a:srgbClr val="7A6E62"/>
                </a:solidFill>
                <a:latin typeface="Instrument Sans SemiBold"/>
              </a:rPr>
              <a:t>Retention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537192" y="594360"/>
            <a:ext cx="126187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9537192" y="594360"/>
            <a:ext cx="873603" cy="0"/>
          </a:xfrm>
          <a:prstGeom prst="line">
            <a:avLst/>
          </a:prstGeom>
          <a:ln w="15875">
            <a:solidFill>
              <a:srgbClr val="8FA58C"/>
            </a:solidFill>
          </a:ln>
        </p:spPr>
      </p:cxnSp>
      <p:sp>
        <p:nvSpPr>
          <p:cNvPr id="8" name="Oval 7"/>
          <p:cNvSpPr/>
          <p:nvPr/>
        </p:nvSpPr>
        <p:spPr>
          <a:xfrm>
            <a:off x="10369647" y="553212"/>
            <a:ext cx="82296" cy="82296"/>
          </a:xfrm>
          <a:prstGeom prst="ellipse">
            <a:avLst/>
          </a:prstGeom>
          <a:solidFill>
            <a:srgbClr val="8FA5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48463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5F564D"/>
                </a:solidFill>
                <a:latin typeface="Instrument San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1152144"/>
            <a:ext cx="42062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5000" b="0" i="0" spc="-50">
                <a:solidFill>
                  <a:srgbClr val="1C1A17"/>
                </a:solidFill>
                <a:latin typeface="Fraunces SemiBold"/>
              </a:rPr>
              <a:t>She comes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5000" b="0" i="0" spc="-50">
                <a:solidFill>
                  <a:srgbClr val="1C1A17"/>
                </a:solidFill>
                <a:latin typeface="Fraunces SemiBold"/>
              </a:rPr>
              <a:t>back for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5000" b="0" i="0" spc="-50">
                <a:solidFill>
                  <a:srgbClr val="1C1A17"/>
                </a:solidFill>
                <a:latin typeface="Fraunces SemiBold"/>
              </a:rPr>
              <a:t>continuity,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5000" b="0" i="0" spc="-50">
                <a:solidFill>
                  <a:srgbClr val="1C1A17"/>
                </a:solidFill>
                <a:latin typeface="Fraunces SemiBold"/>
              </a:rPr>
              <a:t>not streaks.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5266944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5F564D"/>
                </a:solidFill>
                <a:latin typeface="Instrument Sans"/>
              </a:rPr>
              <a:t>Each part gives her a reason to open Elara tomorrow. No points, no badges.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" y="6208776"/>
            <a:ext cx="2574958" cy="310896"/>
          </a:xfrm>
          <a:prstGeom prst="roundRect">
            <a:avLst>
              <a:gd name="adj" fmla="val 50000"/>
            </a:avLst>
          </a:prstGeom>
          <a:solidFill>
            <a:srgbClr val="EAE3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6281928"/>
            <a:ext cx="239207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32D"/>
                </a:solidFill>
                <a:latin typeface="Instrument Sans Medium"/>
              </a:rPr>
              <a:t>Retention hypothesis to validate</a:t>
            </a:r>
          </a:p>
        </p:txBody>
      </p:sp>
      <p:sp>
        <p:nvSpPr>
          <p:cNvPr id="14" name="Oval 13"/>
          <p:cNvSpPr/>
          <p:nvPr/>
        </p:nvSpPr>
        <p:spPr>
          <a:xfrm>
            <a:off x="6848856" y="1901952"/>
            <a:ext cx="3072384" cy="3072384"/>
          </a:xfrm>
          <a:prstGeom prst="ellipse">
            <a:avLst/>
          </a:prstGeom>
          <a:noFill/>
          <a:ln w="19050">
            <a:solidFill>
              <a:srgbClr val="2B355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93608" y="1810512"/>
            <a:ext cx="182880" cy="182880"/>
          </a:xfrm>
          <a:prstGeom prst="ellipse">
            <a:avLst/>
          </a:prstGeom>
          <a:solidFill>
            <a:srgbClr val="8FA5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1261872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F4535"/>
                </a:solidFill>
                <a:latin typeface="Instrument Sans SemiBold"/>
              </a:rPr>
              <a:t>HER WEEK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C1A17"/>
                </a:solidFill>
                <a:latin typeface="Instrument Sans"/>
              </a:rPr>
              <a:t>Life happens</a:t>
            </a:r>
          </a:p>
        </p:txBody>
      </p:sp>
      <p:sp>
        <p:nvSpPr>
          <p:cNvPr id="17" name="Oval 16"/>
          <p:cNvSpPr/>
          <p:nvPr/>
        </p:nvSpPr>
        <p:spPr>
          <a:xfrm>
            <a:off x="9336024" y="2340864"/>
            <a:ext cx="713232" cy="7132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o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56" y="2368296"/>
            <a:ext cx="658368" cy="6583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113264" y="2496312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F4535"/>
                </a:solidFill>
                <a:latin typeface="Instrument Sans SemiBold"/>
              </a:rPr>
              <a:t>ASK ELARA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C1A17"/>
                </a:solidFill>
                <a:latin typeface="Instrument Sans"/>
              </a:rPr>
              <a:t>She talks it through</a:t>
            </a:r>
          </a:p>
        </p:txBody>
      </p:sp>
      <p:sp>
        <p:nvSpPr>
          <p:cNvPr id="20" name="Oval 19"/>
          <p:cNvSpPr/>
          <p:nvPr/>
        </p:nvSpPr>
        <p:spPr>
          <a:xfrm>
            <a:off x="9354312" y="3849624"/>
            <a:ext cx="713232" cy="7132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node-tod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44" y="3877056"/>
            <a:ext cx="658368" cy="658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131552" y="4005072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F4535"/>
                </a:solidFill>
                <a:latin typeface="Instrument Sans SemiBold"/>
              </a:rPr>
              <a:t>TODAY · PATHS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C1A17"/>
                </a:solidFill>
                <a:latin typeface="Instrument Sans"/>
              </a:rPr>
              <a:t>She takes today's step</a:t>
            </a:r>
          </a:p>
        </p:txBody>
      </p:sp>
      <p:sp>
        <p:nvSpPr>
          <p:cNvPr id="23" name="Oval 22"/>
          <p:cNvSpPr/>
          <p:nvPr/>
        </p:nvSpPr>
        <p:spPr>
          <a:xfrm>
            <a:off x="8028431" y="4608576"/>
            <a:ext cx="713232" cy="7132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node-atl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4636008"/>
            <a:ext cx="658368" cy="6583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87768" y="5385816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F4535"/>
                </a:solidFill>
                <a:latin typeface="Instrument Sans SemiBold"/>
              </a:rPr>
              <a:t>ATLAS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C1A17"/>
                </a:solidFill>
                <a:latin typeface="Instrument Sans"/>
              </a:rPr>
              <a:t>She sees how far she's come</a:t>
            </a:r>
          </a:p>
        </p:txBody>
      </p:sp>
      <p:sp>
        <p:nvSpPr>
          <p:cNvPr id="26" name="Oval 25"/>
          <p:cNvSpPr/>
          <p:nvPr/>
        </p:nvSpPr>
        <p:spPr>
          <a:xfrm>
            <a:off x="6702552" y="3849624"/>
            <a:ext cx="713232" cy="7132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node-circl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984" y="3877056"/>
            <a:ext cx="658368" cy="6583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01184" y="4005072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F4535"/>
                </a:solidFill>
                <a:latin typeface="Instrument Sans SemiBold"/>
              </a:rPr>
              <a:t>CIRCLES</a:t>
            </a:r>
          </a:p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C1A17"/>
                </a:solidFill>
                <a:latin typeface="Instrument Sans"/>
              </a:rPr>
              <a:t>Women who know her story</a:t>
            </a:r>
          </a:p>
        </p:txBody>
      </p:sp>
      <p:sp>
        <p:nvSpPr>
          <p:cNvPr id="29" name="Oval 28"/>
          <p:cNvSpPr/>
          <p:nvPr/>
        </p:nvSpPr>
        <p:spPr>
          <a:xfrm>
            <a:off x="6967728" y="2569464"/>
            <a:ext cx="182880" cy="182880"/>
          </a:xfrm>
          <a:prstGeom prst="ellipse">
            <a:avLst/>
          </a:prstGeom>
          <a:solidFill>
            <a:srgbClr val="133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01184" y="2459736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F4535"/>
                </a:solidFill>
                <a:latin typeface="Instrument Sans SemiBold"/>
              </a:rPr>
              <a:t>EXPLORE</a:t>
            </a:r>
          </a:p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C1A17"/>
                </a:solidFill>
                <a:latin typeface="Instrument Sans"/>
              </a:rPr>
              <a:t>Voices she trusts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9208" y="3163824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F4535"/>
                </a:solidFill>
                <a:latin typeface="Fraunces SemiBold"/>
              </a:rPr>
              <a:t>A reason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F4535"/>
                </a:solidFill>
                <a:latin typeface="Fraunces SemiBold"/>
              </a:rPr>
              <a:t>to return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429768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3584" y="448056"/>
            <a:ext cx="731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C1A17"/>
                </a:solidFill>
                <a:latin typeface="Instrument Sans SemiBold"/>
              </a:rPr>
              <a:t>elara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11095" y="475488"/>
            <a:ext cx="0" cy="237744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2075688" y="50292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spc="160" cap="all">
                <a:solidFill>
                  <a:srgbClr val="7A6E62"/>
                </a:solidFill>
                <a:latin typeface="Instrument Sans SemiBold"/>
              </a:rPr>
              <a:t>Distribution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537192" y="594360"/>
            <a:ext cx="126187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9537192" y="594360"/>
            <a:ext cx="970670" cy="0"/>
          </a:xfrm>
          <a:prstGeom prst="line">
            <a:avLst/>
          </a:prstGeom>
          <a:ln w="15875">
            <a:solidFill>
              <a:srgbClr val="8FA58C"/>
            </a:solidFill>
          </a:ln>
        </p:spPr>
      </p:cxnSp>
      <p:sp>
        <p:nvSpPr>
          <p:cNvPr id="8" name="Oval 7"/>
          <p:cNvSpPr/>
          <p:nvPr/>
        </p:nvSpPr>
        <p:spPr>
          <a:xfrm>
            <a:off x="10466714" y="553212"/>
            <a:ext cx="82296" cy="82296"/>
          </a:xfrm>
          <a:prstGeom prst="ellipse">
            <a:avLst/>
          </a:prstGeom>
          <a:solidFill>
            <a:srgbClr val="8FA5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48463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5F564D"/>
                </a:solidFill>
                <a:latin typeface="Instrument Sans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10972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300" b="0" i="0" spc="-50">
                <a:solidFill>
                  <a:srgbClr val="1C1A17"/>
                </a:solidFill>
                <a:latin typeface="Fraunces SemiBold"/>
              </a:rPr>
              <a:t>Trust can become a distribution engine.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92224"/>
            <a:ext cx="4754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0" b="0" i="0" spc="-300">
                <a:solidFill>
                  <a:srgbClr val="133A2B"/>
                </a:solidFill>
                <a:latin typeface="Fraunces SemiBold"/>
              </a:rPr>
              <a:t>2.2M+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956816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1C1A17"/>
                </a:solidFill>
                <a:latin typeface="Instrument Sans Medium"/>
              </a:rPr>
              <a:t>Alejandra's total audience across TikTok, YouTube, Instagram and other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65176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F4535"/>
                </a:solidFill>
                <a:latin typeface="Fraunces SemiBold"/>
              </a:rPr>
              <a:t>We launch through her existing monthly challenges, not paid ads.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3816" y="4306824"/>
            <a:ext cx="5888736" cy="0"/>
          </a:xfrm>
          <a:prstGeom prst="line">
            <a:avLst/>
          </a:prstGeom>
          <a:ln w="12700">
            <a:solidFill>
              <a:srgbClr val="1C1A17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813816" y="4462272"/>
            <a:ext cx="5852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spc="140" cap="all">
                <a:solidFill>
                  <a:srgbClr val="1F4535"/>
                </a:solidFill>
                <a:latin typeface="Instrument Sans SemiBold"/>
              </a:rPr>
              <a:t>Audience &amp; demand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681728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>
                <a:solidFill>
                  <a:srgbClr val="133A2B"/>
                </a:solidFill>
                <a:latin typeface="Fraunces SemiBold"/>
              </a:rPr>
              <a:t>80K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5285232"/>
            <a:ext cx="1920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5F564D"/>
                </a:solidFill>
                <a:latin typeface="Instrument Sans"/>
              </a:rPr>
              <a:t>Instagram community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3784" y="4681728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>
                <a:solidFill>
                  <a:srgbClr val="1C1A17"/>
                </a:solidFill>
                <a:latin typeface="Fraunces SemiBold"/>
              </a:rPr>
              <a:t>4,610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3784" y="5285232"/>
            <a:ext cx="1920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5F564D"/>
                </a:solidFill>
                <a:latin typeface="Instrument Sans"/>
              </a:rPr>
              <a:t>survey responses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4681728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>
                <a:solidFill>
                  <a:srgbClr val="1C1A17"/>
                </a:solidFill>
                <a:latin typeface="Fraunces SemiBold"/>
              </a:rPr>
              <a:t>2,300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3752" y="5285232"/>
            <a:ext cx="1920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5F564D"/>
                </a:solidFill>
                <a:latin typeface="Instrument Sans"/>
              </a:rPr>
              <a:t>beta email sign-ups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4306824"/>
            <a:ext cx="4334256" cy="1536192"/>
          </a:xfrm>
          <a:prstGeom prst="rect">
            <a:avLst/>
          </a:prstGeom>
          <a:solidFill>
            <a:srgbClr val="F0EB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4462272"/>
            <a:ext cx="4023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spc="140" cap="all">
                <a:solidFill>
                  <a:srgbClr val="1F4535"/>
                </a:solidFill>
                <a:latin typeface="Instrument Sans SemiBold"/>
              </a:rPr>
              <a:t>Alejandra's prior offers · not Elara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336" y="4681728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>
                <a:solidFill>
                  <a:srgbClr val="1C1A17"/>
                </a:solidFill>
                <a:latin typeface="Fraunces SemiBold"/>
              </a:rPr>
              <a:t>3,000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0336" y="5285232"/>
            <a:ext cx="1828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5F564D"/>
                </a:solidFill>
                <a:latin typeface="Instrument Sans"/>
              </a:rPr>
              <a:t>finance-guidance buyers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681728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>
                <a:solidFill>
                  <a:srgbClr val="1C1A17"/>
                </a:solidFill>
                <a:latin typeface="Fraunces SemiBold"/>
              </a:rPr>
              <a:t>9,000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5285232"/>
            <a:ext cx="1828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5F564D"/>
                </a:solidFill>
                <a:latin typeface="Instrument Sans"/>
              </a:rPr>
              <a:t>applications for $3K trip spots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" y="6272784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564D"/>
                </a:solidFill>
                <a:latin typeface="Instrument Sans"/>
              </a:rPr>
              <a:t>Audience figures as reported in October 2026; survey from May 2026. Signals, not Elara revenue or users. Prior offers are Alejandra's, not Elara's.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429768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3584" y="448056"/>
            <a:ext cx="731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C1A17"/>
                </a:solidFill>
                <a:latin typeface="Instrument Sans SemiBold"/>
              </a:rPr>
              <a:t>elara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11095" y="475488"/>
            <a:ext cx="0" cy="237744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2075688" y="50292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spc="160" cap="all">
                <a:solidFill>
                  <a:srgbClr val="7A6E62"/>
                </a:solidFill>
                <a:latin typeface="Instrument Sans SemiBold"/>
              </a:rPr>
              <a:t>Business model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537192" y="594360"/>
            <a:ext cx="126187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9537192" y="594360"/>
            <a:ext cx="1067737" cy="0"/>
          </a:xfrm>
          <a:prstGeom prst="line">
            <a:avLst/>
          </a:prstGeom>
          <a:ln w="15875">
            <a:solidFill>
              <a:srgbClr val="8FA58C"/>
            </a:solidFill>
          </a:ln>
        </p:spPr>
      </p:cxnSp>
      <p:sp>
        <p:nvSpPr>
          <p:cNvPr id="8" name="Oval 7"/>
          <p:cNvSpPr/>
          <p:nvPr/>
        </p:nvSpPr>
        <p:spPr>
          <a:xfrm>
            <a:off x="10563781" y="553212"/>
            <a:ext cx="82296" cy="82296"/>
          </a:xfrm>
          <a:prstGeom prst="ellipse">
            <a:avLst/>
          </a:prstGeom>
          <a:solidFill>
            <a:srgbClr val="8FA5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48463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5F564D"/>
                </a:solidFill>
                <a:latin typeface="Instrument Sans"/>
              </a:rPr>
              <a:t>12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15000" y="0"/>
            <a:ext cx="0" cy="6858000"/>
          </a:xfrm>
          <a:prstGeom prst="line">
            <a:avLst/>
          </a:prstGeom>
          <a:ln w="15875">
            <a:solidFill>
              <a:srgbClr val="133A2B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13816" y="1133856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spc="140" cap="all">
                <a:solidFill>
                  <a:srgbClr val="1F4535"/>
                </a:solidFill>
                <a:latin typeface="Instrument Sans SemiBold"/>
              </a:rPr>
              <a:t>The core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1463040"/>
            <a:ext cx="4572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000" b="0" i="0" spc="-50">
                <a:solidFill>
                  <a:srgbClr val="1C1A17"/>
                </a:solidFill>
                <a:latin typeface="Fraunces SemiBold"/>
              </a:rPr>
              <a:t>A free first week,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000" b="0" i="0" spc="-50">
                <a:solidFill>
                  <a:srgbClr val="1C1A17"/>
                </a:solidFill>
                <a:latin typeface="Fraunces SemiBold"/>
              </a:rPr>
              <a:t>then membership.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2926080"/>
            <a:ext cx="4480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0" i="0">
                <a:solidFill>
                  <a:srgbClr val="5F564D"/>
                </a:solidFill>
                <a:latin typeface="Instrument Sans"/>
              </a:rPr>
              <a:t>The founding beta is free. The planned model keeps the first week of a path open; membership supports the deeper journey.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3816" y="4572000"/>
            <a:ext cx="4279392" cy="0"/>
          </a:xfrm>
          <a:prstGeom prst="line">
            <a:avLst/>
          </a:prstGeom>
          <a:ln w="12700">
            <a:solidFill>
              <a:srgbClr val="133A2B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813816" y="475488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spc="140" cap="all">
                <a:solidFill>
                  <a:srgbClr val="B8461F"/>
                </a:solidFill>
                <a:latin typeface="Instrument Sans SemiBold"/>
              </a:rPr>
              <a:t>Later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5010912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5F564D"/>
                </a:solidFill>
                <a:latin typeface="Instrument Sans"/>
              </a:rPr>
              <a:t>Paid workshops and live creator experiences in Explore.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133856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spc="140" cap="all">
                <a:solidFill>
                  <a:srgbClr val="7A6E62"/>
                </a:solidFill>
                <a:latin typeface="Instrument Sans SemiBold"/>
              </a:rPr>
              <a:t>Survey intent, not conversion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1371600"/>
            <a:ext cx="4754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0" b="0" i="0" spc="-300">
                <a:solidFill>
                  <a:srgbClr val="133A2B"/>
                </a:solidFill>
                <a:latin typeface="Fraunces SemiBold"/>
              </a:rPr>
              <a:t>55%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054096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1C1A17"/>
                </a:solidFill>
                <a:latin typeface="Instrument Sans"/>
              </a:rPr>
              <a:t>of May 2026 survey respondents indicated willingness to pay at some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4169663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4535"/>
                </a:solidFill>
                <a:latin typeface="Instrument Sans SemiBold"/>
              </a:rPr>
              <a:t>Yes: 27% + 28% = 55%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27648" y="4498848"/>
            <a:ext cx="2779776" cy="0"/>
          </a:xfrm>
          <a:prstGeom prst="line">
            <a:avLst/>
          </a:prstGeom>
          <a:ln w="12700">
            <a:solidFill>
              <a:srgbClr val="1F453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6327648" y="4443984"/>
            <a:ext cx="0" cy="109728"/>
          </a:xfrm>
          <a:prstGeom prst="line">
            <a:avLst/>
          </a:prstGeom>
          <a:ln w="12700">
            <a:solidFill>
              <a:srgbClr val="1F4535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9107424" y="4443984"/>
            <a:ext cx="0" cy="109728"/>
          </a:xfrm>
          <a:prstGeom prst="line">
            <a:avLst/>
          </a:prstGeom>
          <a:ln w="12700">
            <a:solidFill>
              <a:srgbClr val="1F4535"/>
            </a:solidFill>
          </a:ln>
        </p:spPr>
      </p:cxnSp>
      <p:sp>
        <p:nvSpPr>
          <p:cNvPr id="24" name="Rectangle 23"/>
          <p:cNvSpPr/>
          <p:nvPr/>
        </p:nvSpPr>
        <p:spPr>
          <a:xfrm>
            <a:off x="6327648" y="4700016"/>
            <a:ext cx="1365290" cy="402336"/>
          </a:xfrm>
          <a:prstGeom prst="rect">
            <a:avLst/>
          </a:prstGeom>
          <a:solidFill>
            <a:srgbClr val="133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2938" y="4700016"/>
            <a:ext cx="1415856" cy="402336"/>
          </a:xfrm>
          <a:prstGeom prst="rect">
            <a:avLst/>
          </a:prstGeom>
          <a:solidFill>
            <a:srgbClr val="8EA5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08795" y="4700016"/>
            <a:ext cx="2123785" cy="402336"/>
          </a:xfrm>
          <a:prstGeom prst="rect">
            <a:avLst/>
          </a:prstGeom>
          <a:solidFill>
            <a:srgbClr val="E3D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232581" y="4700016"/>
            <a:ext cx="151698" cy="402336"/>
          </a:xfrm>
          <a:prstGeom prst="rect">
            <a:avLst/>
          </a:prstGeom>
          <a:solidFill>
            <a:srgbClr val="B9B0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5230368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1C1A17"/>
                </a:solidFill>
                <a:latin typeface="Instrument Sans SemiBold"/>
              </a:rPr>
              <a:t>27% </a:t>
            </a:r>
            <a:r>
              <a:rPr sz="1450" b="0" i="0">
                <a:solidFill>
                  <a:srgbClr val="1C1A17"/>
                </a:solidFill>
                <a:latin typeface="Instrument Sans"/>
              </a:rPr>
              <a:t>Yes, $10+/month   </a:t>
            </a:r>
            <a:r>
              <a:rPr sz="1450" b="0" i="0">
                <a:solidFill>
                  <a:srgbClr val="1C1A17"/>
                </a:solidFill>
                <a:latin typeface="Instrument Sans SemiBold"/>
              </a:rPr>
              <a:t>28% </a:t>
            </a:r>
            <a:r>
              <a:rPr sz="1450" b="0" i="0">
                <a:solidFill>
                  <a:srgbClr val="1C1A17"/>
                </a:solidFill>
                <a:latin typeface="Instrument Sans"/>
              </a:rPr>
              <a:t>Yes, under $10/month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5522976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564D"/>
                </a:solidFill>
                <a:latin typeface="Instrument Sans"/>
              </a:rPr>
              <a:t>42% Maybe · 3% 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5852160"/>
            <a:ext cx="5303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564D"/>
                </a:solidFill>
                <a:latin typeface="Instrument Sans"/>
              </a:rPr>
              <a:t>May 2026 survey, n = 4,610. Pricing and the paid offer are still to be validated.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429768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3584" y="448056"/>
            <a:ext cx="731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C1A17"/>
                </a:solidFill>
                <a:latin typeface="Instrument Sans SemiBold"/>
              </a:rPr>
              <a:t>elara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11095" y="475488"/>
            <a:ext cx="0" cy="237744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2075688" y="50292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spc="160" cap="all">
                <a:solidFill>
                  <a:srgbClr val="7A6E62"/>
                </a:solidFill>
                <a:latin typeface="Instrument Sans SemiBold"/>
              </a:rPr>
              <a:t>Team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537192" y="594360"/>
            <a:ext cx="126187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9537192" y="594360"/>
            <a:ext cx="1164804" cy="0"/>
          </a:xfrm>
          <a:prstGeom prst="line">
            <a:avLst/>
          </a:prstGeom>
          <a:ln w="15875">
            <a:solidFill>
              <a:srgbClr val="8FA58C"/>
            </a:solidFill>
          </a:ln>
        </p:spPr>
      </p:cxnSp>
      <p:sp>
        <p:nvSpPr>
          <p:cNvPr id="8" name="Oval 7"/>
          <p:cNvSpPr/>
          <p:nvPr/>
        </p:nvSpPr>
        <p:spPr>
          <a:xfrm>
            <a:off x="10660848" y="553212"/>
            <a:ext cx="82296" cy="82296"/>
          </a:xfrm>
          <a:prstGeom prst="ellipse">
            <a:avLst/>
          </a:prstGeom>
          <a:solidFill>
            <a:srgbClr val="8FA5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48463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5F564D"/>
                </a:solidFill>
                <a:latin typeface="Instrument Sans"/>
              </a:rPr>
              <a:t>13</a:t>
            </a:r>
          </a:p>
        </p:txBody>
      </p:sp>
      <p:pic>
        <p:nvPicPr>
          <p:cNvPr id="10" name="Picture 9" descr="team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659" y="656539"/>
            <a:ext cx="4401921" cy="54307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" y="1609344"/>
            <a:ext cx="31821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 spc="140" cap="all">
                <a:solidFill>
                  <a:srgbClr val="1F4535"/>
                </a:solidFill>
                <a:latin typeface="Instrument Sans SemiBold"/>
              </a:rPr>
              <a:t>Product builder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1865376"/>
            <a:ext cx="318211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Aft>
                <a:spcPts val="0"/>
              </a:spcAft>
            </a:pPr>
            <a:r>
              <a:rPr sz="3100" b="0" i="0">
                <a:solidFill>
                  <a:srgbClr val="1C1A17"/>
                </a:solidFill>
                <a:latin typeface="Fraunces SemiBold"/>
              </a:rPr>
              <a:t>Kara “Mengxi”</a:t>
            </a:r>
          </a:p>
          <a:p>
            <a:pPr algn="r">
              <a:lnSpc>
                <a:spcPct val="98000"/>
              </a:lnSpc>
              <a:spcAft>
                <a:spcPts val="0"/>
              </a:spcAft>
            </a:pPr>
            <a:r>
              <a:rPr sz="3100" b="0" i="0">
                <a:solidFill>
                  <a:srgbClr val="1C1A17"/>
                </a:solidFill>
                <a:latin typeface="Fraunces SemiBold"/>
              </a:rPr>
              <a:t>Wang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2871216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F4535"/>
                </a:solidFill>
                <a:latin typeface="Instrument Sans SemiBold"/>
              </a:rPr>
              <a:t>Co-founder</a:t>
            </a:r>
          </a:p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F4535"/>
                </a:solidFill>
                <a:latin typeface="Instrument Sans SemiBold"/>
              </a:rPr>
              <a:t>Product, UX/design, founder-led build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3816" y="3474720"/>
            <a:ext cx="318211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813816" y="3557016"/>
            <a:ext cx="3182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C1A17"/>
                </a:solidFill>
                <a:latin typeface="Instrument Sans"/>
              </a:rPr>
              <a:t>Capital One, fintech, product design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3816" y="3895344"/>
            <a:ext cx="318211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813816" y="3977639"/>
            <a:ext cx="318211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C1A17"/>
                </a:solidFill>
                <a:latin typeface="Instrument Sans"/>
              </a:rPr>
              <a:t>Product design consultant through the Techstars network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3816" y="4517136"/>
            <a:ext cx="318211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813816" y="4599432"/>
            <a:ext cx="3182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C1A17"/>
                </a:solidFill>
                <a:latin typeface="Instrument Sans"/>
              </a:rPr>
              <a:t>Zero-to-one product development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3816" y="4937760"/>
            <a:ext cx="318211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813816" y="5020056"/>
            <a:ext cx="318211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C1A17"/>
                </a:solidFill>
                <a:latin typeface="Instrument Sans"/>
              </a:rPr>
              <a:t>Leads product and design with contract developers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1609344"/>
            <a:ext cx="31821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spc="140" cap="all">
                <a:solidFill>
                  <a:srgbClr val="1F4535"/>
                </a:solidFill>
                <a:latin typeface="Instrument Sans SemiBold"/>
              </a:rPr>
              <a:t>Audience builder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1865376"/>
            <a:ext cx="318211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0" i="0">
                <a:solidFill>
                  <a:srgbClr val="1C1A17"/>
                </a:solidFill>
                <a:latin typeface="Fraunces SemiBold"/>
              </a:rPr>
              <a:t>Alejandra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0" i="0">
                <a:solidFill>
                  <a:srgbClr val="1C1A17"/>
                </a:solidFill>
                <a:latin typeface="Fraunces SemiBold"/>
              </a:rPr>
              <a:t>Ramirez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871216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F4535"/>
                </a:solidFill>
                <a:latin typeface="Instrument Sans SemiBold"/>
              </a:rPr>
              <a:t>Co-founder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F4535"/>
                </a:solidFill>
                <a:latin typeface="Instrument Sans SemiBold"/>
              </a:rPr>
              <a:t>Distribution, trust, community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11312" y="3474720"/>
            <a:ext cx="318211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8211312" y="3557016"/>
            <a:ext cx="3182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1C1A17"/>
                </a:solidFill>
                <a:latin typeface="Instrument Sans"/>
              </a:rPr>
              <a:t>About six years building trust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11312" y="3895344"/>
            <a:ext cx="318211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8211312" y="3977639"/>
            <a:ext cx="3182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1C1A17"/>
                </a:solidFill>
                <a:latin typeface="Instrument Sans"/>
              </a:rPr>
              <a:t>2.2M+ audience across channels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11312" y="4315968"/>
            <a:ext cx="318211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8211312" y="4398264"/>
            <a:ext cx="3182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1C1A17"/>
                </a:solidFill>
                <a:latin typeface="Instrument Sans"/>
              </a:rPr>
              <a:t>80K Instagram community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11312" y="4736592"/>
            <a:ext cx="318211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8211312" y="4818888"/>
            <a:ext cx="3182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1C1A17"/>
                </a:solidFill>
                <a:latin typeface="Instrument Sans"/>
              </a:rPr>
              <a:t>Prior purchases of her guidance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" y="5961888"/>
            <a:ext cx="10579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F4535"/>
                </a:solidFill>
                <a:latin typeface="Fraunces SemiBold"/>
              </a:rPr>
              <a:t>One builds the product. One brings the women and the trust.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" y="6400800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564D"/>
                </a:solidFill>
                <a:latin typeface="Instrument Sans"/>
              </a:rPr>
              <a:t>Audience figures as reported in October 2026.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A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429768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3584" y="448056"/>
            <a:ext cx="731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4EEE2"/>
                </a:solidFill>
                <a:latin typeface="Instrument Sans SemiBold"/>
              </a:rPr>
              <a:t>elara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11095" y="475488"/>
            <a:ext cx="0" cy="237744"/>
          </a:xfrm>
          <a:prstGeom prst="line">
            <a:avLst/>
          </a:prstGeom>
          <a:ln w="9525">
            <a:solidFill>
              <a:srgbClr val="4C6B5D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2075688" y="50292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spc="160" cap="all">
                <a:solidFill>
                  <a:srgbClr val="B9C8BD"/>
                </a:solidFill>
                <a:latin typeface="Instrument Sans SemiBold"/>
              </a:rPr>
              <a:t>The next proof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537192" y="594360"/>
            <a:ext cx="1261872" cy="0"/>
          </a:xfrm>
          <a:prstGeom prst="line">
            <a:avLst/>
          </a:prstGeom>
          <a:ln w="9525">
            <a:solidFill>
              <a:srgbClr val="4C6B5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9537192" y="594360"/>
            <a:ext cx="1261872" cy="0"/>
          </a:xfrm>
          <a:prstGeom prst="line">
            <a:avLst/>
          </a:prstGeom>
          <a:ln w="15875">
            <a:solidFill>
              <a:srgbClr val="9EDFC0"/>
            </a:solidFill>
          </a:ln>
        </p:spPr>
      </p:cxnSp>
      <p:sp>
        <p:nvSpPr>
          <p:cNvPr id="8" name="Oval 7"/>
          <p:cNvSpPr/>
          <p:nvPr/>
        </p:nvSpPr>
        <p:spPr>
          <a:xfrm>
            <a:off x="10757916" y="553212"/>
            <a:ext cx="82296" cy="82296"/>
          </a:xfrm>
          <a:prstGeom prst="ellipse">
            <a:avLst/>
          </a:prstGeom>
          <a:solidFill>
            <a:srgbClr val="9EDF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48463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B9C8BD"/>
                </a:solidFill>
                <a:latin typeface="Instrument Sans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1152144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5000" b="0" i="0" spc="-50">
                <a:solidFill>
                  <a:srgbClr val="F4EEE2"/>
                </a:solidFill>
                <a:latin typeface="Fraunces SemiBold"/>
              </a:rPr>
              <a:t>Clarity about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5000" b="0" i="0" spc="-50">
                <a:solidFill>
                  <a:srgbClr val="F4EEE2"/>
                </a:solidFill>
                <a:latin typeface="Fraunces SemiBold"/>
              </a:rPr>
              <a:t>what to do next.</a:t>
            </a:r>
          </a:p>
        </p:txBody>
      </p:sp>
      <p:pic>
        <p:nvPicPr>
          <p:cNvPr id="11" name="Picture 10" descr="o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624" y="914400"/>
            <a:ext cx="1645920" cy="1645920"/>
          </a:xfrm>
          <a:prstGeom prst="rect">
            <a:avLst/>
          </a:prstGeom>
        </p:spPr>
      </p:pic>
      <p:pic>
        <p:nvPicPr>
          <p:cNvPr id="12" name="Picture 11" descr="cardf-mist-mead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07" y="3060679"/>
            <a:ext cx="2291120" cy="26861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816" y="5650992"/>
            <a:ext cx="19751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F4EEE2"/>
                </a:solidFill>
                <a:latin typeface="Instrument Sans"/>
              </a:rPr>
              <a:t>Mist Meadow</a:t>
            </a:r>
          </a:p>
        </p:txBody>
      </p:sp>
      <p:pic>
        <p:nvPicPr>
          <p:cNvPr id="14" name="Picture 13" descr="cardf-celestial-n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3791" y="3060679"/>
            <a:ext cx="2291120" cy="26861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71800" y="5650992"/>
            <a:ext cx="19751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F4EEE2"/>
                </a:solidFill>
                <a:latin typeface="Instrument Sans"/>
              </a:rPr>
              <a:t>Celestial Night</a:t>
            </a:r>
          </a:p>
        </p:txBody>
      </p:sp>
      <p:pic>
        <p:nvPicPr>
          <p:cNvPr id="16" name="Picture 15" descr="cardf-reed-isla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1775" y="3060679"/>
            <a:ext cx="2291120" cy="268614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29784" y="5650992"/>
            <a:ext cx="19751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F4EEE2"/>
                </a:solidFill>
                <a:latin typeface="Instrument Sans"/>
              </a:rPr>
              <a:t>Reed Island</a:t>
            </a:r>
          </a:p>
        </p:txBody>
      </p:sp>
      <p:pic>
        <p:nvPicPr>
          <p:cNvPr id="18" name="Picture 17" descr="cardf-guadua-roo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9759" y="3060679"/>
            <a:ext cx="2291120" cy="26861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87768" y="5650992"/>
            <a:ext cx="19751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F4EEE2"/>
                </a:solidFill>
                <a:latin typeface="Instrument Sans"/>
              </a:rPr>
              <a:t>Guadua Roots</a:t>
            </a:r>
          </a:p>
        </p:txBody>
      </p:sp>
      <p:pic>
        <p:nvPicPr>
          <p:cNvPr id="20" name="Picture 19" descr="cardf-the-overloo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7743" y="3060679"/>
            <a:ext cx="2291120" cy="268614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45752" y="5650992"/>
            <a:ext cx="19751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F4EEE2"/>
                </a:solidFill>
                <a:latin typeface="Instrument Sans"/>
              </a:rPr>
              <a:t>The Overlook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" y="618134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spc="140" cap="all">
                <a:solidFill>
                  <a:srgbClr val="9EDFC0"/>
                </a:solidFill>
                <a:latin typeface="Instrument Sans SemiBold"/>
              </a:rPr>
              <a:t>In TestFlight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6163056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4EEE2"/>
                </a:solidFill>
                <a:latin typeface="Instrument Sans"/>
              </a:rPr>
              <a:t>Next proof: activation, movement into Week 2, repeat use, and willingness to pay.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429768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3584" y="448056"/>
            <a:ext cx="731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C1A17"/>
                </a:solidFill>
                <a:latin typeface="Instrument Sans SemiBold"/>
              </a:rPr>
              <a:t>elara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11095" y="475488"/>
            <a:ext cx="0" cy="237744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2075688" y="50292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spc="160" cap="all">
                <a:solidFill>
                  <a:srgbClr val="7A6E62"/>
                </a:solidFill>
                <a:latin typeface="Instrument Sans SemiBold"/>
              </a:rPr>
              <a:t>Appendix · for diligence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537192" y="594360"/>
            <a:ext cx="126187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9537192" y="594360"/>
            <a:ext cx="1261872" cy="0"/>
          </a:xfrm>
          <a:prstGeom prst="line">
            <a:avLst/>
          </a:prstGeom>
          <a:ln w="15875">
            <a:solidFill>
              <a:srgbClr val="8FA58C"/>
            </a:solidFill>
          </a:ln>
        </p:spPr>
      </p:cxnSp>
      <p:sp>
        <p:nvSpPr>
          <p:cNvPr id="8" name="Oval 7"/>
          <p:cNvSpPr/>
          <p:nvPr/>
        </p:nvSpPr>
        <p:spPr>
          <a:xfrm>
            <a:off x="10757916" y="553212"/>
            <a:ext cx="82296" cy="82296"/>
          </a:xfrm>
          <a:prstGeom prst="ellipse">
            <a:avLst/>
          </a:prstGeom>
          <a:solidFill>
            <a:srgbClr val="8FA5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48463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5F564D"/>
                </a:solidFill>
                <a:latin typeface="Instrument Sans"/>
              </a:rPr>
              <a:t>A1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1133856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0" i="0" spc="-50">
                <a:solidFill>
                  <a:srgbClr val="1C1A17"/>
                </a:solidFill>
                <a:latin typeface="Fraunces SemiBold"/>
              </a:rPr>
              <a:t>Positioning: a trusted voice, with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0" i="0" spc="-50">
                <a:solidFill>
                  <a:srgbClr val="1C1A17"/>
                </a:solidFill>
                <a:latin typeface="Fraunces SemiBold"/>
              </a:rPr>
              <a:t>context that can keep growing.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450592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spc="140" cap="all">
                <a:solidFill>
                  <a:srgbClr val="1F4535"/>
                </a:solidFill>
                <a:latin typeface="Instrument Sans SemiBold"/>
              </a:rPr>
              <a:t>What context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743200"/>
            <a:ext cx="4754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1C1A17"/>
                </a:solidFill>
                <a:latin typeface="Fraunces SemiBold"/>
              </a:rPr>
              <a:t>A money practice can acknowledge </a:t>
            </a:r>
            <a:r>
              <a:rPr sz="2400" b="0" i="0">
                <a:solidFill>
                  <a:srgbClr val="8B5A44"/>
                </a:solidFill>
                <a:latin typeface="Fraunces SemiBold"/>
              </a:rPr>
              <a:t>family obligations</a:t>
            </a:r>
            <a:r>
              <a:rPr sz="2400" b="0" i="0">
                <a:solidFill>
                  <a:srgbClr val="1C1A17"/>
                </a:solidFill>
                <a:latin typeface="Fraunces SemiBold"/>
              </a:rPr>
              <a:t> alongside her own goals for </a:t>
            </a:r>
            <a:r>
              <a:rPr sz="2400" b="0" i="0">
                <a:solidFill>
                  <a:srgbClr val="1F4535"/>
                </a:solidFill>
                <a:latin typeface="Fraunces SemiBold"/>
              </a:rPr>
              <a:t>independence</a:t>
            </a:r>
            <a:r>
              <a:rPr sz="2400" b="0" i="0">
                <a:solidFill>
                  <a:srgbClr val="1C1A17"/>
                </a:solidFill>
                <a:latin typeface="Fraunces SemiBol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328" y="2450592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spc="140" cap="all">
                <a:solidFill>
                  <a:srgbClr val="7A6E62"/>
                </a:solidFill>
                <a:latin typeface="Instrument Sans SemiBold"/>
              </a:rPr>
              <a:t>Approaches · conceptual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274320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1C1A17"/>
                </a:solidFill>
                <a:latin typeface="Instrument Sans"/>
              </a:rPr>
              <a:t>General-purpose AI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743200"/>
            <a:ext cx="2615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5F564D"/>
                </a:solidFill>
                <a:latin typeface="Instrument Sans"/>
              </a:rPr>
              <a:t>Adaptive · generic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70448" y="3108960"/>
            <a:ext cx="551383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053328" y="320040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1C1A17"/>
                </a:solidFill>
                <a:latin typeface="Instrument Sans"/>
              </a:rPr>
              <a:t>General content libraries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200400"/>
            <a:ext cx="2615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5F564D"/>
                </a:solidFill>
                <a:latin typeface="Instrument Sans"/>
              </a:rPr>
              <a:t>Static · generic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70448" y="3566160"/>
            <a:ext cx="551383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053328" y="365760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1C1A17"/>
                </a:solidFill>
                <a:latin typeface="Instrument Sans"/>
              </a:rPr>
              <a:t>Creator guides and courses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657600"/>
            <a:ext cx="2615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5F564D"/>
                </a:solidFill>
                <a:latin typeface="Instrument Sans"/>
              </a:rPr>
              <a:t>Static · culturally specific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70448" y="4023360"/>
            <a:ext cx="551383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23" name="Rectangle 22"/>
          <p:cNvSpPr/>
          <p:nvPr/>
        </p:nvSpPr>
        <p:spPr>
          <a:xfrm>
            <a:off x="5870448" y="4023360"/>
            <a:ext cx="5513832" cy="475488"/>
          </a:xfrm>
          <a:prstGeom prst="rect">
            <a:avLst/>
          </a:prstGeom>
          <a:solidFill>
            <a:srgbClr val="133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4142232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4EEE2"/>
                </a:solidFill>
                <a:latin typeface="Instrument Sans SemiBold"/>
              </a:rPr>
              <a:t>Elara (intended)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142232"/>
            <a:ext cx="31638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9EDFC0"/>
                </a:solidFill>
                <a:latin typeface="Instrument Sans SemiBold"/>
              </a:rPr>
              <a:t>Adaptive · culturally 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493776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spc="140" cap="all">
                <a:solidFill>
                  <a:srgbClr val="7A6E62"/>
                </a:solidFill>
                <a:latin typeface="Instrument Sans SemiBold"/>
              </a:rPr>
              <a:t>Starting advantages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13816" y="5303520"/>
            <a:ext cx="2414016" cy="0"/>
          </a:xfrm>
          <a:prstGeom prst="line">
            <a:avLst/>
          </a:prstGeom>
          <a:ln w="15875">
            <a:solidFill>
              <a:srgbClr val="133A2B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813816" y="5468112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1C1A17"/>
                </a:solidFill>
                <a:latin typeface="Instrument Sans SemiBold"/>
              </a:rPr>
              <a:t>Creator trust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" y="5705856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5F564D"/>
                </a:solidFill>
                <a:latin typeface="Instrument Sans"/>
              </a:rPr>
              <a:t>An existing audience and community.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529584" y="5303520"/>
            <a:ext cx="2414016" cy="0"/>
          </a:xfrm>
          <a:prstGeom prst="line">
            <a:avLst/>
          </a:prstGeom>
          <a:ln w="15875">
            <a:solidFill>
              <a:srgbClr val="133A2B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3529584" y="5468112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1C1A17"/>
                </a:solidFill>
                <a:latin typeface="Instrument Sans SemiBold"/>
              </a:rPr>
              <a:t>Cultural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9584" y="5705856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5F564D"/>
                </a:solidFill>
                <a:latin typeface="Instrument Sans"/>
              </a:rPr>
              <a:t>Built first for Spanish-speaking / Latina women.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45352" y="5303520"/>
            <a:ext cx="2414016" cy="0"/>
          </a:xfrm>
          <a:prstGeom prst="line">
            <a:avLst/>
          </a:prstGeom>
          <a:ln w="15875">
            <a:solidFill>
              <a:srgbClr val="133A2B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6245352" y="5468112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1C1A17"/>
                </a:solidFill>
                <a:latin typeface="Instrument Sans SemiBold"/>
              </a:rPr>
              <a:t>Adaptive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352" y="5705856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5F564D"/>
                </a:solidFill>
                <a:latin typeface="Instrument Sans"/>
              </a:rPr>
              <a:t>Designed to carry context across guidance and reflection.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961120" y="5303520"/>
            <a:ext cx="2414016" cy="0"/>
          </a:xfrm>
          <a:prstGeom prst="line">
            <a:avLst/>
          </a:prstGeom>
          <a:ln w="15875">
            <a:solidFill>
              <a:srgbClr val="133A2B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8961120" y="5468112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1C1A17"/>
                </a:solidFill>
                <a:latin typeface="Instrument Sans SemiBold"/>
              </a:rPr>
              <a:t>Community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5705856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5F564D"/>
                </a:solidFill>
                <a:latin typeface="Instrument Sans"/>
              </a:rPr>
              <a:t>Shared circles alongside personal guidance.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" y="6437376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564D"/>
                </a:solidFill>
                <a:latin typeface="Instrument Sans"/>
              </a:rPr>
              <a:t>Elara's intended position. Conceptual, not a performance comparison. From the September 2026 deck.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429768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3584" y="448056"/>
            <a:ext cx="731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C1A17"/>
                </a:solidFill>
                <a:latin typeface="Instrument Sans SemiBold"/>
              </a:rPr>
              <a:t>elara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11095" y="475488"/>
            <a:ext cx="0" cy="237744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2075688" y="50292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spc="160" cap="all">
                <a:solidFill>
                  <a:srgbClr val="7A6E62"/>
                </a:solidFill>
                <a:latin typeface="Instrument Sans SemiBold"/>
              </a:rPr>
              <a:t>Appendix · launch plan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537192" y="594360"/>
            <a:ext cx="1261872" cy="0"/>
          </a:xfrm>
          <a:prstGeom prst="line">
            <a:avLst/>
          </a:prstGeom>
          <a:ln w="9525">
            <a:solidFill>
              <a:srgbClr val="D9CFB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9537192" y="594360"/>
            <a:ext cx="1261872" cy="0"/>
          </a:xfrm>
          <a:prstGeom prst="line">
            <a:avLst/>
          </a:prstGeom>
          <a:ln w="15875">
            <a:solidFill>
              <a:srgbClr val="8FA58C"/>
            </a:solidFill>
          </a:ln>
        </p:spPr>
      </p:cxnSp>
      <p:sp>
        <p:nvSpPr>
          <p:cNvPr id="8" name="Oval 7"/>
          <p:cNvSpPr/>
          <p:nvPr/>
        </p:nvSpPr>
        <p:spPr>
          <a:xfrm>
            <a:off x="10757916" y="553212"/>
            <a:ext cx="82296" cy="82296"/>
          </a:xfrm>
          <a:prstGeom prst="ellipse">
            <a:avLst/>
          </a:prstGeom>
          <a:solidFill>
            <a:srgbClr val="8FA5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48463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5F564D"/>
                </a:solidFill>
                <a:latin typeface="Instrument Sans"/>
              </a:rPr>
              <a:t>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1133856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400" b="0" i="0" spc="-50">
                <a:solidFill>
                  <a:srgbClr val="1C1A17"/>
                </a:solidFill>
                <a:latin typeface="Fraunces SemiBold"/>
              </a:rPr>
              <a:t>The next 90 days.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1956816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5F564D"/>
                </a:solidFill>
                <a:latin typeface="Instrument Sans"/>
              </a:rPr>
              <a:t>Bring the existing community into Elara in waves, then test whether the guided path gives them a reason to return.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5256" y="2889504"/>
            <a:ext cx="3200400" cy="0"/>
          </a:xfrm>
          <a:prstGeom prst="line">
            <a:avLst/>
          </a:prstGeom>
          <a:ln w="19050">
            <a:solidFill>
              <a:srgbClr val="133A2B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813816" y="2816352"/>
            <a:ext cx="146304" cy="146304"/>
          </a:xfrm>
          <a:prstGeom prst="ellipse">
            <a:avLst/>
          </a:prstGeom>
          <a:solidFill>
            <a:srgbClr val="133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127248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spc="140" cap="all">
                <a:solidFill>
                  <a:srgbClr val="1F4535"/>
                </a:solidFill>
                <a:latin typeface="Instrument Sans SemiBold"/>
              </a:rPr>
              <a:t>Month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3832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1C1A17"/>
                </a:solidFill>
                <a:latin typeface="Fraunces SemiBold"/>
              </a:rPr>
              <a:t>Invite and 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3822191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1C1A17"/>
                </a:solidFill>
                <a:latin typeface="Instrument Sans"/>
              </a:rPr>
              <a:t>Invite beta sign-ups in waves.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486460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5F564D"/>
                </a:solidFill>
                <a:latin typeface="Instrument Sans SemiBold"/>
              </a:rPr>
              <a:t>Learn: </a:t>
            </a:r>
            <a:r>
              <a:rPr sz="1500" b="0" i="0">
                <a:solidFill>
                  <a:srgbClr val="5F564D"/>
                </a:solidFill>
                <a:latin typeface="Instrument Sans"/>
              </a:rPr>
              <a:t>onboarding completion and the first practice.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89704" y="2889504"/>
            <a:ext cx="3200400" cy="0"/>
          </a:xfrm>
          <a:prstGeom prst="line">
            <a:avLst/>
          </a:prstGeom>
          <a:ln w="19050">
            <a:solidFill>
              <a:srgbClr val="133A2B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4398264" y="2816352"/>
            <a:ext cx="146304" cy="146304"/>
          </a:xfrm>
          <a:prstGeom prst="ellipse">
            <a:avLst/>
          </a:prstGeom>
          <a:solidFill>
            <a:srgbClr val="133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98264" y="3127248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spc="140" cap="all">
                <a:solidFill>
                  <a:srgbClr val="1F4535"/>
                </a:solidFill>
                <a:latin typeface="Instrument Sans SemiBold"/>
              </a:rPr>
              <a:t>Month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33832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1C1A17"/>
                </a:solidFill>
                <a:latin typeface="Fraunces SemiBold"/>
              </a:rPr>
              <a:t>Build continuity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3822191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1C1A17"/>
                </a:solidFill>
                <a:latin typeface="Instrument Sans"/>
              </a:rPr>
              <a:t>Pair a familiar challenge with Today, Atlas, and Circles.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486460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5F564D"/>
                </a:solidFill>
                <a:latin typeface="Instrument Sans SemiBold"/>
              </a:rPr>
              <a:t>Learn: </a:t>
            </a:r>
            <a:r>
              <a:rPr sz="1500" b="0" i="0">
                <a:solidFill>
                  <a:srgbClr val="5F564D"/>
                </a:solidFill>
                <a:latin typeface="Instrument Sans"/>
              </a:rPr>
              <a:t>return visits and Week 2 entry.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74152" y="2889504"/>
            <a:ext cx="3200400" cy="0"/>
          </a:xfrm>
          <a:prstGeom prst="line">
            <a:avLst/>
          </a:prstGeom>
          <a:ln w="19050">
            <a:solidFill>
              <a:srgbClr val="133A2B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7982712" y="2816352"/>
            <a:ext cx="146304" cy="146304"/>
          </a:xfrm>
          <a:prstGeom prst="ellipse">
            <a:avLst/>
          </a:prstGeom>
          <a:solidFill>
            <a:srgbClr val="133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82712" y="3127248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spc="140" cap="all">
                <a:solidFill>
                  <a:srgbClr val="1F4535"/>
                </a:solidFill>
                <a:latin typeface="Instrument Sans SemiBold"/>
              </a:rPr>
              <a:t>Month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3832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1C1A17"/>
                </a:solidFill>
                <a:latin typeface="Fraunces SemiBold"/>
              </a:rPr>
              <a:t>Test the offer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2712" y="3822191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1C1A17"/>
                </a:solidFill>
                <a:latin typeface="Instrument Sans"/>
              </a:rPr>
              <a:t>Use evidence from the first cohorts to refine membership and the free-to-paid boundary.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2712" y="486460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5F564D"/>
                </a:solidFill>
                <a:latin typeface="Instrument Sans SemiBold"/>
              </a:rPr>
              <a:t>Learn: </a:t>
            </a:r>
            <a:r>
              <a:rPr sz="1500" b="0" i="0">
                <a:solidFill>
                  <a:srgbClr val="5F564D"/>
                </a:solidFill>
                <a:latin typeface="Instrument Sans"/>
              </a:rPr>
              <a:t>repeat use and willingness to pay.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" y="57790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F4535"/>
                </a:solidFill>
                <a:latin typeface="Instrument Sans SemiBold"/>
              </a:rPr>
              <a:t>Engagement hypothesis to validate: </a:t>
            </a:r>
            <a:r>
              <a:rPr sz="1500" b="0" i="0">
                <a:solidFill>
                  <a:srgbClr val="1C1A17"/>
                </a:solidFill>
                <a:latin typeface="Instrument Sans"/>
              </a:rPr>
              <a:t>monthly challenge → personal reflection → relevant next step → next challenge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" y="6345936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564D"/>
                </a:solidFill>
                <a:latin typeface="Instrument Sans"/>
              </a:rPr>
              <a:t>Illustrative sequence. Existing email sign-ups are not active users. Timing, engagement and paid conversion remain to be validated.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